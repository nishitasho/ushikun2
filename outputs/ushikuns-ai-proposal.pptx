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718b5f5c8a4a1a" /><Relationship Type="http://schemas.openxmlformats.org/officeDocument/2006/relationships/extended-properties" Target="/docProps/app.xml" Id="R168d9811e5324657" /><Relationship Type="http://schemas.openxmlformats.org/officeDocument/2006/relationships/officeDocument" Target="/ppt/presentation.xml" Id="R05bb2878695c4d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6d1f08fd24469"/>
  </p:sldMasterIdLst>
  <p:notesMasterIdLst>
    <p:notesMasterId xmlns:r="http://schemas.openxmlformats.org/officeDocument/2006/relationships" r:id="Ra318cf4ff5a443bb"/>
  </p:notesMasterIdLst>
  <p:sldIdLst>
    <p:sldId xmlns:r="http://schemas.openxmlformats.org/officeDocument/2006/relationships" id="256" r:id="Rff981e9649574858"/>
    <p:sldId xmlns:r="http://schemas.openxmlformats.org/officeDocument/2006/relationships" id="257" r:id="Re59e2b43d6294416"/>
    <p:sldId xmlns:r="http://schemas.openxmlformats.org/officeDocument/2006/relationships" id="258" r:id="R50916cee22ee482b"/>
    <p:sldId xmlns:r="http://schemas.openxmlformats.org/officeDocument/2006/relationships" id="259" r:id="R7d9fe91ca3de40b7"/>
    <p:sldId xmlns:r="http://schemas.openxmlformats.org/officeDocument/2006/relationships" id="260" r:id="R0e91e256272749b9"/>
    <p:sldId xmlns:r="http://schemas.openxmlformats.org/officeDocument/2006/relationships" id="261" r:id="Rf03f3aa54c504bfb"/>
    <p:sldId xmlns:r="http://schemas.openxmlformats.org/officeDocument/2006/relationships" id="262" r:id="Rf5686685b9964caf"/>
    <p:sldId xmlns:r="http://schemas.openxmlformats.org/officeDocument/2006/relationships" id="263" r:id="R6fcf522e35ca4662"/>
    <p:sldId xmlns:r="http://schemas.openxmlformats.org/officeDocument/2006/relationships" id="264" r:id="R6df020c98ec44571"/>
    <p:sldId xmlns:r="http://schemas.openxmlformats.org/officeDocument/2006/relationships" id="265" r:id="Rbc46862a709546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0f1bef41e4d2c" /><Relationship Type="http://schemas.openxmlformats.org/officeDocument/2006/relationships/slideMaster" Target="/ppt/slideMasters/slideMaster1.xml" Id="R95e6d1f08fd24469" /><Relationship Type="http://schemas.openxmlformats.org/officeDocument/2006/relationships/notesMaster" Target="/ppt/notesMasters/notesMaster1.xml" Id="Ra318cf4ff5a443bb" /><Relationship Type="http://schemas.openxmlformats.org/officeDocument/2006/relationships/presProps" Target="/ppt/presProps.xml" Id="R3ef5b1be0a634430" /><Relationship Type="http://schemas.openxmlformats.org/officeDocument/2006/relationships/tableStyles" Target="/ppt/tableStyles.xml" Id="R4ceac8965f16480d" /><Relationship Type="http://schemas.openxmlformats.org/officeDocument/2006/relationships/slide" Target="/ppt/slides/slide1.xml" Id="Rff981e9649574858" /><Relationship Type="http://schemas.openxmlformats.org/officeDocument/2006/relationships/slide" Target="/ppt/slides/slide2.xml" Id="Re59e2b43d6294416" /><Relationship Type="http://schemas.openxmlformats.org/officeDocument/2006/relationships/slide" Target="/ppt/slides/slide3.xml" Id="R50916cee22ee482b" /><Relationship Type="http://schemas.openxmlformats.org/officeDocument/2006/relationships/slide" Target="/ppt/slides/slide4.xml" Id="R7d9fe91ca3de40b7" /><Relationship Type="http://schemas.openxmlformats.org/officeDocument/2006/relationships/slide" Target="/ppt/slides/slide5.xml" Id="R0e91e256272749b9" /><Relationship Type="http://schemas.openxmlformats.org/officeDocument/2006/relationships/slide" Target="/ppt/slides/slide6.xml" Id="Rf03f3aa54c504bfb" /><Relationship Type="http://schemas.openxmlformats.org/officeDocument/2006/relationships/slide" Target="/ppt/slides/slide7.xml" Id="Rf5686685b9964caf" /><Relationship Type="http://schemas.openxmlformats.org/officeDocument/2006/relationships/slide" Target="/ppt/slides/slide8.xml" Id="R6fcf522e35ca4662" /><Relationship Type="http://schemas.openxmlformats.org/officeDocument/2006/relationships/slide" Target="/ppt/slides/slide9.xml" Id="R6df020c98ec44571" /><Relationship Type="http://schemas.openxmlformats.org/officeDocument/2006/relationships/slide" Target="/ppt/slides/slide10.xml" Id="Rbc46862a7095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12bbb5b503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488230a454206" /><Relationship Type="http://schemas.openxmlformats.org/officeDocument/2006/relationships/notesMaster" Target="/ppt/notesMasters/notesMaster1.xml" Id="Rb0d6814721114f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987d3cb356467d" /><Relationship Type="http://schemas.openxmlformats.org/officeDocument/2006/relationships/notesMaster" Target="/ppt/notesMasters/notesMaster1.xml" Id="Rdf224d1555e1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1e020e81bf4708" /><Relationship Type="http://schemas.openxmlformats.org/officeDocument/2006/relationships/notesMaster" Target="/ppt/notesMasters/notesMaster1.xml" Id="R56475e278f4e4a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448a25bda54d4d" /><Relationship Type="http://schemas.openxmlformats.org/officeDocument/2006/relationships/notesMaster" Target="/ppt/notesMasters/notesMaster1.xml" Id="Re1f4ab5ee6d2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370de4801b43c1" /><Relationship Type="http://schemas.openxmlformats.org/officeDocument/2006/relationships/notesMaster" Target="/ppt/notesMasters/notesMaster1.xml" Id="Rba7c1e1b7fae41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951ba4ea94466c" /><Relationship Type="http://schemas.openxmlformats.org/officeDocument/2006/relationships/notesMaster" Target="/ppt/notesMasters/notesMaster1.xml" Id="Rae993c5be28246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945b5a7e30494b" /><Relationship Type="http://schemas.openxmlformats.org/officeDocument/2006/relationships/notesMaster" Target="/ppt/notesMasters/notesMaster1.xml" Id="Rdc36b2f4994b47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d8cac6f9354e36" /><Relationship Type="http://schemas.openxmlformats.org/officeDocument/2006/relationships/notesMaster" Target="/ppt/notesMasters/notesMaster1.xml" Id="Rac291ef0fc3f40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5217604d974ac7" /><Relationship Type="http://schemas.openxmlformats.org/officeDocument/2006/relationships/notesMaster" Target="/ppt/notesMasters/notesMaster1.xml" Id="Re39e1e6b900c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03adcb73f54ec0" /><Relationship Type="http://schemas.openxmlformats.org/officeDocument/2006/relationships/notesMaster" Target="/ppt/notesMasters/notesMaster1.xml" Id="R89d4898e09ba45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03c0c273848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b6cf06e43744e4" /><Relationship Type="http://schemas.openxmlformats.org/officeDocument/2006/relationships/slideLayout" Target="/ppt/slideLayouts/slideLayout1.xml" Id="R9b03dc96f9884a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3dc96f9884a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8f0849fe04cfc" /><Relationship Type="http://schemas.openxmlformats.org/officeDocument/2006/relationships/image" Target="/ppt/media/image.png" Id="R2765a517b1cf45fe" /><Relationship Type="http://schemas.openxmlformats.org/officeDocument/2006/relationships/notesSlide" Target="/ppt/notesSlides/notesSlide1.xml" Id="Rae3a456363ef42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35b847e2c49b8" /><Relationship Type="http://schemas.openxmlformats.org/officeDocument/2006/relationships/notesSlide" Target="/ppt/notesSlides/notesSlide2.xml" Id="Rb30a26b6f19f4c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489ce63d14d6f" /><Relationship Type="http://schemas.openxmlformats.org/officeDocument/2006/relationships/notesSlide" Target="/ppt/notesSlides/notesSlide3.xml" Id="Rd71ea19b677b43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8838b5f214cc4" /><Relationship Type="http://schemas.openxmlformats.org/officeDocument/2006/relationships/notesSlide" Target="/ppt/notesSlides/notesSlide4.xml" Id="Rb6a7efdbbd34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6d7cc7b7455f" /><Relationship Type="http://schemas.openxmlformats.org/officeDocument/2006/relationships/notesSlide" Target="/ppt/notesSlides/notesSlide5.xml" Id="R35ec8e36ff9844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1c2586016489a" /><Relationship Type="http://schemas.openxmlformats.org/officeDocument/2006/relationships/image" Target="/ppt/media/image.jpeg" Id="Re1ca51f2613e41eb" /><Relationship Type="http://schemas.openxmlformats.org/officeDocument/2006/relationships/notesSlide" Target="/ppt/notesSlides/notesSlide6.xml" Id="Rad48bcd679be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6714a46d34edf" /><Relationship Type="http://schemas.openxmlformats.org/officeDocument/2006/relationships/notesSlide" Target="/ppt/notesSlides/notesSlide7.xml" Id="R421b357b1d4c47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7685dd6b44597" /><Relationship Type="http://schemas.openxmlformats.org/officeDocument/2006/relationships/notesSlide" Target="/ppt/notesSlides/notesSlide8.xml" Id="Rb735a1b22b1d4d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e50987c6b41df" /><Relationship Type="http://schemas.openxmlformats.org/officeDocument/2006/relationships/notesSlide" Target="/ppt/notesSlides/notesSlide9.xml" Id="R07271bc849ac43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a8c89eb9f4f92" /><Relationship Type="http://schemas.openxmlformats.org/officeDocument/2006/relationships/image" Target="/ppt/media/image2.png" Id="R25ce45616d604b24" /><Relationship Type="http://schemas.openxmlformats.org/officeDocument/2006/relationships/notesSlide" Target="/ppt/notesSlides/notesSlide10.xml" Id="R44c641fc6e2c49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31F44-51FB-4AB6-AD07-78C2476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1717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E7A72-69B5-4063-8FEB-C0F17DB8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AB7A-013C-4561-8280-C6C9E8E6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店舗向けAIマーケティング運用サービス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171EC-66B7-4AB6-A7B0-CFB6CDF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牛くんずAI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07DA9-BE38-42FF-BF94-395564F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24時間365日働く、店舗のAIマーケ担当。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434E-386B-4EB1-B3D1-F6999EF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MEO・AEO・口コミ・LINE・インバウンド施策を毎日提案。</a:t>
            </a:r>
          </a:p>
          <a:p xmlns:a="http://schemas.openxmlformats.org/drawingml/2006/main">
            <a:pPr algn="l">
              <a:defRPr sz="15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店舗オーナーは確認・編集・承認するだけ。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0606C-1FA1-4BDC-AEBF-ED606A88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76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5BD09-6620-4E31-BC4F-C954388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一緒に、店舗ビジネスをもっと加速。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5a517b1cf45fe"/>
          <a:stretch xmlns:a="http://schemas.openxmlformats.org/drawingml/2006/main"/>
        </p:blipFill>
        <p:spPr>
          <a:xfrm xmlns:a="http://schemas.openxmlformats.org/drawingml/2006/main">
            <a:off x="7239000" y="768998"/>
            <a:ext cx="4095750" cy="501520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9005A-403F-41A5-B1EE-4876708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SERVICE PROPOSAL / 2026</a:t>
            </a:r>
          </a:p>
        </p:txBody>
      </p:sp>
    </p:spTree>
    <p:extLst>
      <p:ext uri="{BB962C8B-B14F-4D97-AF65-F5344CB8AC3E}">
        <p14:creationId xmlns:p14="http://schemas.microsoft.com/office/powerpoint/2010/main" val="2080187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0D101-5F88-4C34-A7A0-CE50C493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12DCF-E151-432F-BFD2-7A95FF53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店舗マーケティングは、やることが多く継続しにくい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D6198-807F-4E25-8927-21E83CA1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施策ごとに管理画面と判断基準が分かれ、日々の店舗運営と両立しづらい状態です。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BEB0C-6CF6-47DF-AECF-4A91283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2197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37642-4A6F-4442-904C-41E370CC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30050-E5CA-4FC9-9CED-E23FD124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50277-DC19-498C-9B2E-00C4DCC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Googleマップ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8D01A-4C73-4F40-811B-3FDF94F5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投稿・店舗情報・口コミ返信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EA416-7BAA-474A-9864-52A5D8B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2197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97E6F-B48B-4F8B-9D01-B58E28A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CE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E976C-5BAF-4202-A24A-9C2D93BB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B6449-E31D-498D-8AA5-66618586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検索・AI検索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693E8-498A-4D27-A03E-280EA8D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MEO / AEO向けの情報整備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AE3F4-59F2-4D0E-AEAA-6383A56C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2197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01B61-AB17-43E4-A0C6-1243429C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9525">
            <a:solidFill>
              <a:srgbClr val="EAF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683D8-0DCE-4B8F-B0B5-B9037E7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A9EC5-8579-4CDC-BEBD-F7137D49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顧客コミュニケーション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CF565-2E1D-459F-9A07-BFB67EBE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LINE配信・再来店施策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E2DF3-358E-4F95-B4D7-47991FEA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52197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6C4FF-4A97-4991-A562-81C84D0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9525">
            <a:solidFill>
              <a:srgbClr val="E9F0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B1F4C-7433-4993-B682-6B0D17B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B4AA4-E8A5-417E-BAC2-B7B9190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訪日客対応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D9375-E593-40F1-8282-514B5F40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多言語情報・来店導線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19AF9-018A-4955-921E-FF9EA647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A87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A877A"/>
                </a:solidFill>
                <a:latin typeface="Arial"/>
                <a:ea typeface="Arial"/>
                <a:cs typeface="Arial"/>
              </a:rPr>
              <a:t>結果: 重要だと分かっていても、後回し・属人化・更新停止が起こりやすい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E9EEE-E2F5-488F-92F1-0F74308E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37329-1AC0-46F8-88DA-503B2A80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A8BAAE-2BF9-41DF-95CA-7C626185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5577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01054-63B3-4810-8F76-1DCC0494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9CEBE-2FD0-4F09-8023-8757E62F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毎日の運用を「AIが提案、人が判断」に変える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AE9CF-DBB0-47FD-82AB-4A8E9EF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牛くんずAIが店舗情報を理解し、実行候補をまとめて提示します。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53E47-FEF4-47ED-A6F8-9C690C0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476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0FDE7-CFAE-4A47-B0E0-7B2E6C5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5922D-09FE-4A2B-B7F6-6426045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47364-F88A-4C90-A32B-130AF48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店舗を理解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62D3-8059-4036-90A8-FCBC5A7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強み・顧客・キーワード・NG表現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6F541-3006-432F-8F90-C6F3C952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432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5C38D-2783-4CE5-A84E-5ED6767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476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1717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6B33C-B9ED-414A-9569-8C4B0E0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4A"/>
          </a:solidFill>
          <a:ln xmlns:a="http://schemas.openxmlformats.org/drawingml/2006/main" w="9525">
            <a:solidFill>
              <a:srgbClr val="C99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0285F-51FB-4333-94E7-C5A728B5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C67DE-0645-4516-A462-B665C9A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AIが提案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C2379-B958-46D8-A7B3-0FE0C179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D6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D6D0"/>
                </a:solidFill>
                <a:latin typeface="Arial"/>
                <a:ea typeface="Arial"/>
                <a:cs typeface="Arial"/>
              </a:rPr>
              <a:t>投稿・返信・記事・改善案を生成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33373-4F4F-4CC5-B74C-3C605BE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432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85F8F-7BE7-46DD-8D19-70A68125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476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5BC0E-9FF4-448D-A0D2-373D160F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AAC98-1F5B-4B92-84AC-C369AD97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5F527-D447-4504-A52C-513017BB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人が判断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2C12C-B4B4-45A9-A782-9F7187C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確認・編集・承認・却下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86414-AAE6-423B-8B40-68FDB93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432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B8C29-DDA6-49DF-8AB4-F5F0C850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476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15A95-6B25-431A-AC9D-3136962C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03299-220E-471E-8194-3A4D41C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4CAD5-BCD0-45B3-9768-CA8A11BB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実行・蓄積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55397-1EB9-4769-9A5C-EA1718E3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投稿・返信・履歴管理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9C8C79-DDBD-4C59-85B3-4B0CBE9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3C6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6D8A2-ECD2-4E01-B540-4F700CF2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店舗オーナーの仕事は、ゼロから作ることではなく『最終判断』へ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D5A16-6510-4932-BA1C-1051B642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8C502-C864-4362-A5A6-D7F300B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4309E-876E-4A00-BC85-79E4DE9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0946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01CF0-E27B-4422-9C8D-F6033292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CORE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6DB67-CA96-46D7-92D9-C50C786B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店舗ごとの強みを、6つのマーケティング施策へ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7D0E0-3ABC-4DD3-8DF2-AF768CEA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テンプレートの使い回しではなく、店舗情報・ターゲット・キーワードを反映します。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8586F-6B46-49BD-88E2-365062A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33718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585D-4941-41B1-832D-F4B350D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C8DDE-9C95-4780-AD3F-398520F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GBP投稿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163FE-6700-4D39-9AAE-53D5F797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新規集客・MEO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7703D-36E9-4F12-B1F0-24A98379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3718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8D585-26C8-4225-B3CB-EE2D358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877A"/>
          </a:solidFill>
          <a:ln xmlns:a="http://schemas.openxmlformats.org/drawingml/2006/main" w="0">
            <a:solidFill>
              <a:srgbClr val="DA87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DF1A2-9806-405F-AF56-067A559B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574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口コミ返信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480C9-ABC4-4961-AE98-B0EB7FDB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信頼・再来店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DB299-3FA4-4692-A97D-F8B3F48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33718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DBE39-E7C5-478C-B8CB-E101502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95"/>
          </a:solidFill>
          <a:ln xmlns:a="http://schemas.openxmlformats.org/drawingml/2006/main" w="0">
            <a:solidFill>
              <a:srgbClr val="4F7D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7344A-E94A-45DA-BD38-389EF6A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574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FAQ型AEO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D8816-C8C5-40A0-85C3-A8A3F29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AI検索への情報提供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96E2A-37A4-4A96-85D7-EFCED5B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33718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88260-3883-4FBB-8D17-918AB9FB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63"/>
          </a:solidFill>
          <a:ln xmlns:a="http://schemas.openxmlformats.org/drawingml/2006/main" w="0">
            <a:solidFill>
              <a:srgbClr val="5F78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B3BB8-7DC3-4F9B-A6F5-A7E2916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note記事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75D4E-1135-4DA8-BE7F-67AB47EF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専門性・一次情報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B6B0C-7073-4FF6-B4D8-C0AAFDA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43325"/>
            <a:ext cx="33718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0BAE1-F4BE-4255-B78E-2C6460EC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433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6A8B"/>
          </a:solidFill>
          <a:ln xmlns:a="http://schemas.openxmlformats.org/drawingml/2006/main" w="0">
            <a:solidFill>
              <a:srgbClr val="846A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8F3CC-E900-42C7-806F-D2E04DB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528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LINE配信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2E653-039E-419B-A792-E22A534E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0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リピーター獲得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F2460-D960-4532-B27A-57B2036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43325"/>
            <a:ext cx="33718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09119-E50F-4A4F-952F-7045BDED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433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1717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62C1F-C6A1-4C33-B149-EF9ACD7C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店舗改善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EFBE2-81A0-4AA9-B319-E366C2D0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情報不足・導線改善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5D25C-70FC-4ADE-96EC-68C535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E5CFE-11FF-4082-9DD1-2BCD576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C52BEB-3060-42E3-A255-749C562F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7621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8094E6-F372-4174-8B33-7C2787CA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AUTOMATION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49445-D3EF-4373-A221-CC2EF963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投稿と口コミ返信は、別々に自動化レベルを設定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58DC1-E37D-48B9-8EB4-4BE5DCFD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店舗の運用方針とリスク許容度に合わせて、段階的に自動化できます。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585B-151D-488D-8772-74C69A39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2197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4F99C-42C3-4B47-AA4E-2C93E253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投稿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093CA-950A-4EAA-B6A5-2B3482E1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GBP投稿案の生成・投稿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439C7-690C-4109-A70F-95768C19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724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50534-70CA-4BE4-AF70-E8C697BD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承認制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64289-9325-41E9-BC3F-B8F0CCAC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すべて人が確認してから実行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8660B-5805-4B17-8D0B-68AE4A85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724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86232-45B9-4B65-80A8-220E8FD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半自動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94B80-D830-432D-92F6-42CD81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24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低リスクの通常投稿のみ自動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AD8C5-0E0A-429E-9562-8C4ABE50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24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FF60C-F91D-4437-B3E9-9FD9DFB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完全自動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C07CD-C425-41D4-84BA-61FB3E57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053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事前ルールに沿って自動実行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385B8-7BE2-4EB9-91F3-98FAE9A7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52197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30905-3A00-4CA9-94A3-D04A724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口コミテンプレート自動返信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CBBB1-7C2F-4C95-AE1C-C5AD46F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星評価別テンプレート・AI返信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20911-C7E1-418B-B622-F05F1E7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724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7CC78-90D9-48CD-ABA1-C75E232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承認制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436FC-DEC0-4C2F-8FBC-55DF4481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すべて人が確認してから実行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AF5CE-E770-47D6-A59F-A7BA25F1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724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CE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59AA7-5331-4CB4-AF40-DA596A5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半自動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447B4-3D80-4A2F-8C2B-9E88427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24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星4〜5・リスクなしのみ自動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27324-738D-4AF0-814E-F0D02D0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4724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CE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A625A-530A-4A93-AE53-5FED99BD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完全自動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07AE2F-0316-414B-95B8-405DDAEE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053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事前ルールに沿って自動実行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23074-CB49-45CF-9531-A8322FFA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BB0F0-DBE7-43FA-8893-5F24C07E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C00A3B-BF44-4EAC-AA0B-7D0BFD70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5299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D4E64-3C5A-4453-B06A-13C0520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141FA-293D-4326-83CB-072AD88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承認フローを中心にした、迷わない管理画面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7A8A0-48EB-40D1-8F45-D3AA137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毎日見る情報と、設定時だけ触る情報を分け、店舗オーナーが短時間で判断できます。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424E7-641F-412F-829A-9AD345C1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953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a51f2613e41eb"/>
          <a:srcRect xmlns:a="http://schemas.openxmlformats.org/drawingml/2006/main" l="0" t="17458" r="0" b="17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724650" cy="3867150"/>
          </a:xfrm>
          <a:prstGeom xmlns:a="http://schemas.openxmlformats.org/drawingml/2006/main" prst="roundRect">
            <a:avLst>
              <a:gd name="adj" fmla="val 197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DC823-E2B7-44CF-A311-E2D94B0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FD51E-7102-46F3-96B0-AA38079A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4A922-8226-42F8-9A7A-A569488F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本日の提案を一覧確認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76C2A-2F95-49EA-8687-E4D8C056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CE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2EC81-F4D5-4EE7-A362-E88067AF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B0E39-B266-479D-A05E-ECDE6B11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527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編集・承認・却下を一画面で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03FD8-14A3-4389-A1F6-7A88BED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56424-7B06-4C78-A40B-E3A637E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77938-D2BF-49E7-8CE2-2DC471E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投稿と口コミを個別設定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CADE5-468E-425B-A6C5-0B8C3AA0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CE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4586C-5900-47B7-8354-1244D321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12E76-163F-40FB-B9F6-45CF35C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053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実行履歴と状態を追跡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D93CC-98E4-4383-80E5-C2B0CF5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1717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1D586-32EE-4065-AC00-1066F4E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578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牛くんがそっと運用をサポート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8A778-182A-498D-9557-1C5303E3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AA22C-D66B-44D2-A54F-F876A286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7A6AC-2CD3-45D7-A188-296D01F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24394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178F0-98D8-4355-B5F4-9E7F200B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GBP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089B1-F70D-4798-A1F2-E559C05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GBPから手作業でIDを集める必要はありません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ACFA9-39D0-4599-8F96-1F94688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OAuth認証後、管理可能なアカウントと店舗ロケーションをAPIで取得して紐づけます。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A3F66-8FF5-4BF0-9EBA-11CFB787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38375"/>
            <a:ext cx="2000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996FB-E9B1-4263-8B11-F7637C9C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61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B733D-C675-4914-9B12-9E019AC0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A2113-8225-4073-BE5E-962D583F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Google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F278A-C187-494D-887C-42FE911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API利用承認</a:t>
            </a:r>
          </a:p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関連API有効化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B08B8-039B-4BAB-8589-152C499E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BEEAD-2C40-4BFE-8320-D38B13F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38375"/>
            <a:ext cx="2000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9525">
            <a:solidFill>
              <a:srgbClr val="FCE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4D073-D4D8-4C00-AD53-E1B7606B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00300"/>
            <a:ext cx="361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E34CD-FC48-4DF4-87B6-CB19EB19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19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D825B-324A-4B2B-B0EB-DC5FEE3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76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OAuth認証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99F13-DA67-4634-8EAB-386FD33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337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business.manage</a:t>
            </a:r>
          </a:p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管理権限を確認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90A14-1B50-427A-BA66-7D180FEE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5275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5C248-1716-43EA-87AA-B2B07AF5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38375"/>
            <a:ext cx="2000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9525">
            <a:solidFill>
              <a:srgbClr val="EAF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10ACD-8F7A-44E4-9479-0DE2EFC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361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69961-80EA-48AB-B200-38309221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19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030D5-8C3D-4E5E-9D5B-717D3833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76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アカウント取得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9841C-5202-4704-9F29-BC01230E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337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accounts/{id}</a:t>
            </a:r>
          </a:p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一覧から選択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769E2-E5FF-49BC-866F-B4A5DAF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16FC1-551D-4CB4-A0C0-DB1584CB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38375"/>
            <a:ext cx="2000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9525">
            <a:solidFill>
              <a:srgbClr val="E9F0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49BD1-849E-47AA-82C1-21CF1D08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00300"/>
            <a:ext cx="361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6929C-DB52-43FD-BEB1-FC2E6FA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19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744DC-5711-4C69-A70A-7010DAB8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76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店舗取得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D70BE-0C50-4E9B-8DF9-B49AD82E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337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locations/{id}</a:t>
            </a:r>
          </a:p>
          <a:p xmlns:a="http://schemas.openxmlformats.org/drawingml/2006/main">
            <a:pPr algn="ctr">
              <a:defRPr sz="11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店舗情報を同期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AB1B7-41F7-433E-AA51-A06E344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5275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CCBD6-A36B-4FA2-85DB-5D1D3039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2000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17171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EC669-ECA5-4999-9808-EB1421E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361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4A"/>
          </a:solidFill>
          <a:ln xmlns:a="http://schemas.openxmlformats.org/drawingml/2006/main" w="9525">
            <a:solidFill>
              <a:srgbClr val="C99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D683ED-EBA7-4EA4-81B9-C53621A4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19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476B4-2CCB-4DA5-9B0F-A464DD0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運用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FF7F2-1E30-4189-AB1D-9FCDF86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D9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D9D2"/>
                </a:solidFill>
                <a:latin typeface="Arial"/>
                <a:ea typeface="Arial"/>
                <a:cs typeface="Arial"/>
              </a:rPr>
              <a:t>口コミ取得・返信</a:t>
            </a:r>
          </a:p>
          <a:p xmlns:a="http://schemas.openxmlformats.org/drawingml/2006/main">
            <a:pPr algn="ctr">
              <a:defRPr sz="1125" b="0">
                <a:solidFill>
                  <a:srgbClr val="DDD9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D9D2"/>
                </a:solidFill>
                <a:latin typeface="Arial"/>
                <a:ea typeface="Arial"/>
                <a:cs typeface="Arial"/>
              </a:rPr>
              <a:t>GBP投稿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A3A07-3937-4AC2-A111-40C84D6B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96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67F8D3-42D5-4B0F-9435-1A9D8656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必要なもの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BCBE73-13B7-43FC-9873-DA81F59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6903F4-E395-49E4-984A-A3C5EDF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38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9"/>
                </a:solidFill>
                <a:latin typeface="Arial"/>
                <a:ea typeface="Arial"/>
                <a:cs typeface="Arial"/>
              </a:rPr>
              <a:t>GBP管理権限のあるGoogleアカウント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0C4708-D05F-407C-BCB3-61D4B14F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ADB87-BAF8-44A8-8A29-C332803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38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9"/>
                </a:solidFill>
                <a:latin typeface="Arial"/>
                <a:ea typeface="Arial"/>
                <a:cs typeface="Arial"/>
              </a:rPr>
              <a:t>OAuthクライアントID / secret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35B036-008E-471F-8069-B13B5ADA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63"/>
          </a:solidFill>
          <a:ln xmlns:a="http://schemas.openxmlformats.org/drawingml/2006/main" w="0">
            <a:solidFill>
              <a:srgbClr val="5F78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B282C-3450-498E-A08A-90C7E82D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62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9"/>
                </a:solidFill>
                <a:latin typeface="Arial"/>
                <a:ea typeface="Arial"/>
                <a:cs typeface="Arial"/>
              </a:rPr>
              <a:t>リダイレクトURI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F45B5D-54AE-42B2-955A-5EAE1716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63"/>
          </a:solidFill>
          <a:ln xmlns:a="http://schemas.openxmlformats.org/drawingml/2006/main" w="0">
            <a:solidFill>
              <a:srgbClr val="5F78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D3138-5CFD-4DAD-9B42-765BF96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62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9"/>
                </a:solidFill>
                <a:latin typeface="Arial"/>
                <a:ea typeface="Arial"/>
                <a:cs typeface="Arial"/>
              </a:rPr>
              <a:t>確認済みロケーション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25D3CE-853E-4748-894F-613F379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805FAF-1A88-4993-A6E3-7ACB152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出典: Google Business Profile APIs 公式ドキュメント（2026-06-15確認）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120C06-6E0C-4546-B39E-643DC3F9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2079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01776-DA4D-49BD-8591-464B18BB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SAFETY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1FF5F-86B3-43CB-940B-A475E35C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自動化より先に、事故を防ぐ仕組みを設計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98AB5-D85F-4921-8A4B-0B8FF8E0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初期設定は承認制。店舗ごとのルールとリスク判定を通過したものだけを実行します。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B42D3-5D72-4A33-AF0D-B662ECC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6C2AE-D9E3-4987-87BE-86E445D4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EE9"/>
          </a:solidFill>
          <a:ln xmlns:a="http://schemas.openxmlformats.org/drawingml/2006/main" w="0">
            <a:solidFill>
              <a:srgbClr val="FCE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9BE7D-AE2B-4094-AB12-BC0CEA15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497D2-2B4B-4E9C-9300-3D730EBA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050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NG表現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53C4-9E5A-4B07-BB16-CFF9B768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店舗固有の禁止語を生成後にも検査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08A53-EF52-4115-8374-623B97C6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93305-0DF2-4149-82A2-2EDB143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D2"/>
          </a:solidFill>
          <a:ln xmlns:a="http://schemas.openxmlformats.org/drawingml/2006/main" w="0">
            <a:solidFill>
              <a:srgbClr val="F4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A494C-E15C-467A-8648-F5C3135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17F8F-8A14-4278-82C0-0FDBFED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050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口コミリスク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0FD85-DA18-4D97-9BE9-5F3F5DAE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低評価・クレーム・具体的苦情を検出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D5F25-E8D3-47FD-A031-219F0AEF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5DFB1-6C32-4468-9F7B-67E54EE6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EA"/>
          </a:solidFill>
          <a:ln xmlns:a="http://schemas.openxmlformats.org/drawingml/2006/main" w="0">
            <a:solidFill>
              <a:srgbClr val="EAF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4459E-16BD-4E60-B226-D597A49D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D308D-1A0C-4D63-B2A6-B9BAFE7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規制業種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5C23A-87EB-4F22-9F21-5B71F22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4340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医療・美容・士業の効果保証表現を回避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6854E-16EA-4227-8A67-F57BF41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FB36B-6F4E-4B67-B0D8-EEC491E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0">
            <a:solidFill>
              <a:srgbClr val="E9F0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842DE-2D6C-4163-99A9-A1A7A4F5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980CA-88AC-4E33-9FAB-2A696B9E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承認履歴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3789C-032D-4C5A-BBC6-E8BC2A14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誰が、いつ、何を変更・実行したか保存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4CA90-2FCE-4758-9596-B5AB1551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17171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7618F-A3B6-4823-9FF9-A8828EAA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承認制 → 半自動 → 完全自動を、店舗ごと・機能ごとに段階開放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960EF-3D10-48C3-B273-C0FD702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30DC9-3DDD-4ACC-A8AD-2AC39CBD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3406F-E333-410B-8A56-B9E35BD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94923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EA9AA9-6498-4056-A9E5-7DEF9803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IMPLEMENTATION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E0B67-EA43-4443-B74A-EDC9BD0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安全に使えるMVPから、実運用へ段階的に接続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F6D28-B872-400D-8297-B966B989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UI確認と承認フローを固めた後、GBPの取得・返信・投稿を順番に実装します。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5C48-FD52-49D3-948B-4E02AAF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DC4C-2E77-4172-95C4-C8574431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940E-9FF2-4A11-8434-C99A71C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D191-F31A-4EC0-9F7A-19C78A3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1717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A13E9-489F-4F94-A04E-EA6B67C5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管理画面MVP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CA45-0D6F-4393-9EB8-266DDC6E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733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店舗登録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AI提案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承認・履歴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E3BF5-69FC-4B2E-8705-BC96875C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D4EBF-00BF-4B50-80B5-DD46378A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1D8A4-52EB-4A0E-943E-B079FA1D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AA359-1F79-4EA5-898C-EAE5693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0985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43F53-6CA0-490C-A514-A0572BAC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098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3BFB2-BEC8-45C4-A530-1A25F785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1465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GBP OAuth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62623-ABD1-4FF4-91A6-97AE1B59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733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アカウント取得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ロケーション紐付け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F7971-5E74-4B4A-BB8B-BB50C9C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0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BDA1C-2FE9-4893-9F3A-7C09B15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14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57EE4-7C30-4D1B-AF78-958532CB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3C412-7773-4A52-8674-639F2783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5E55A-3C94-4BC1-92C6-375BC66F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877A"/>
          </a:solidFill>
          <a:ln xmlns:a="http://schemas.openxmlformats.org/drawingml/2006/main" w="0">
            <a:solidFill>
              <a:srgbClr val="DA87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B800A-FC18-4975-A6D4-C360B965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1465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口コミ連携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93F14-D93D-4A6E-B3C8-63F537C4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0450"/>
            <a:ext cx="1733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口コミ同期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AI返信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承認後投稿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76142-4D26-499B-9729-A1FB2BC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DF5BE-5D34-4C3F-9811-B17DC5A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0E197-E5D9-4D21-B308-36BBEAF3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85481-8410-428F-8C4E-F5C03C9C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39DA2-BC2F-4607-8314-48D765C7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63"/>
          </a:solidFill>
          <a:ln xmlns:a="http://schemas.openxmlformats.org/drawingml/2006/main" w="0">
            <a:solidFill>
              <a:srgbClr val="5F78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8DAC6-DAD3-43CF-A64E-2CF8487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投稿連携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DB7D58-0CD4-4328-8BC5-E46E694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733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本文・画像生成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承認後投稿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B32301-9D7C-4343-8001-4FC8C20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B653F-23F0-4A95-B9F6-BDC169F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14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E7178-C727-440C-A0DE-EF3D5DC4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33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FFEC9-7D8C-4913-AF6B-82A8A72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B8ACC-8999-4A1F-BFA6-FE821DED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95"/>
          </a:solidFill>
          <a:ln xmlns:a="http://schemas.openxmlformats.org/drawingml/2006/main" w="0">
            <a:solidFill>
              <a:srgbClr val="4F7D9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05A1A-E3C8-4210-A605-EEB7A72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1465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自動運用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27D0A-C13E-471C-A2E3-6830E65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733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定期実行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監視・通知</a:t>
            </a:r>
          </a:p>
          <a:p xmlns:a="http://schemas.openxmlformats.org/drawingml/2006/main">
            <a:pPr algn="ctr">
              <a:defRPr sz="1200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分析改善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C71CF9-B0D2-45B3-8B0E-72A14E7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00700"/>
            <a:ext cx="7086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9525">
            <a:solidFill>
              <a:srgbClr val="EAF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0085B7-7492-471C-BEDD-2FA5B39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388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現在地: STEP 1完了、Gemini提案生成と自動化モード分離まで実装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4D2563-32C5-4AAC-B214-8C73907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DED8C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DF785-37DD-4550-B047-10D8B45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45F"/>
                </a:solidFill>
                <a:latin typeface="Arial"/>
                <a:ea typeface="Arial"/>
                <a:cs typeface="Arial"/>
              </a:rPr>
              <a:t>牛くんずAI 提案資料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E1B1EC-860E-49D6-94FB-4C1BCF80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1642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e45616d604b24"/>
          <a:srcRect xmlns:a="http://schemas.openxmlformats.org/drawingml/2006/main" l="12222" t="0" r="1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0"/>
            <a:ext cx="51816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E61A9-B6BF-473F-B0A9-5B2BC011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F4E8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898E2-D858-4876-A5FE-AFB7D55A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F5530-C40D-477F-83D9-3C0ACE6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牛くんずAI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704C9-F1F0-4670-9398-F4C737D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一緒に、店舗ビジネスを</a:t>
            </a:r>
          </a:p>
          <a:p xmlns:a="http://schemas.openxmlformats.org/drawingml/2006/main">
            <a:pPr algn="l">
              <a:defRPr sz="25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もっと加速。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8CE6-3E92-4C7B-B2AA-49A6AFC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9A4A"/>
                </a:solidFill>
                <a:latin typeface="Arial"/>
                <a:ea typeface="Arial"/>
                <a:cs typeface="Arial"/>
              </a:rPr>
              <a:t>次の実装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F587D-4008-4047-8F3D-F5934B4A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5058-30BE-4CB6-8586-5E0E8CF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9"/>
                </a:solidFill>
                <a:latin typeface="Arial"/>
                <a:ea typeface="Arial"/>
                <a:cs typeface="Arial"/>
              </a:rPr>
              <a:t>Google OAuthとGBPロケーション選択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8E1B8-491B-4378-BD12-E35D538D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63"/>
          </a:solidFill>
          <a:ln xmlns:a="http://schemas.openxmlformats.org/drawingml/2006/main" w="0">
            <a:solidFill>
              <a:srgbClr val="5F78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7C5E9-6D71-46BF-8B51-67746101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9"/>
                </a:solidFill>
                <a:latin typeface="Arial"/>
                <a:ea typeface="Arial"/>
                <a:cs typeface="Arial"/>
              </a:rPr>
              <a:t>口コミ取得・AI返信・承認後投稿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6D4CD-0C0C-4E35-95EA-E0FAE1B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63"/>
          </a:solidFill>
          <a:ln xmlns:a="http://schemas.openxmlformats.org/drawingml/2006/main" w="0">
            <a:solidFill>
              <a:srgbClr val="5F78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ADDF-ABC2-4184-8932-D1DE2E35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9"/>
                </a:solidFill>
                <a:latin typeface="Arial"/>
                <a:ea typeface="Arial"/>
                <a:cs typeface="Arial"/>
              </a:rPr>
              <a:t>GBP投稿・画像生成・投稿履歴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FC6A8-3E37-4A2D-8BA7-0131E78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45F"/>
                </a:solidFill>
                <a:latin typeface="Arial"/>
                <a:ea typeface="Arial"/>
                <a:cs typeface="Arial"/>
              </a:rPr>
              <a:t>USHIKUNS AI / SERVICE PROPOSAL</a:t>
            </a:r>
          </a:p>
        </p:txBody>
      </p:sp>
    </p:spTree>
    <p:extLst>
      <p:ext uri="{BB962C8B-B14F-4D97-AF65-F5344CB8AC3E}">
        <p14:creationId xmlns:p14="http://schemas.microsoft.com/office/powerpoint/2010/main" val="1715723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2026-06-15T06:03:51.5800000Z</dcterms:created>
  <dcterms:modified xsi:type="dcterms:W3CDTF">2026-06-15T06:03:51.5800000Z</dcterms:modified>
</coreProperties>
</file>